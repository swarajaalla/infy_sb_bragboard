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FC2C6-2040-AE2B-630C-5FCB5C18AD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1AB3AA-B5C8-81B6-0E4A-548FC3F2CA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65796A2-22DD-A5CC-BE8B-C19214343AC6}"/>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5" name="Footer Placeholder 4">
            <a:extLst>
              <a:ext uri="{FF2B5EF4-FFF2-40B4-BE49-F238E27FC236}">
                <a16:creationId xmlns:a16="http://schemas.microsoft.com/office/drawing/2014/main" id="{A70D1813-79DC-419B-F325-7C7CFE77E4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3D48FA-FD37-09D1-CC5F-EE80201A882C}"/>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2734548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3FF91-BF47-0CA2-236E-8D6FCD3539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F79F1A-5BF3-9971-8BA7-7F6698F4C5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23DCE0-DC0F-0D16-C0D2-EBAE1EE575CB}"/>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5" name="Footer Placeholder 4">
            <a:extLst>
              <a:ext uri="{FF2B5EF4-FFF2-40B4-BE49-F238E27FC236}">
                <a16:creationId xmlns:a16="http://schemas.microsoft.com/office/drawing/2014/main" id="{2086C70F-ECF3-BD3F-7305-EB64D9A7E3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C1F89E-0A07-24A5-B714-A0AF0234FA1C}"/>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1528525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FA2F1-0F0A-63DD-BE65-4DF0B406E4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A9BA44D-8FD4-DBEC-C076-5171D6F70B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342EEC-501F-6009-5EED-BE3E1C19EE4A}"/>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5" name="Footer Placeholder 4">
            <a:extLst>
              <a:ext uri="{FF2B5EF4-FFF2-40B4-BE49-F238E27FC236}">
                <a16:creationId xmlns:a16="http://schemas.microsoft.com/office/drawing/2014/main" id="{3E0BD645-BFB1-60D4-A2C3-7C78E2AF3F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ECE0E7-F3CE-79BD-7ACA-64870881612D}"/>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3105648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E9913-410A-49D6-F27A-35765C8649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3F44ED-31B6-4772-3974-C8B80C463D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5FA45A5-06D5-B5D6-499D-40041DCA05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96347C3-9D28-82B8-5C58-72AF604C8130}"/>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6" name="Footer Placeholder 5">
            <a:extLst>
              <a:ext uri="{FF2B5EF4-FFF2-40B4-BE49-F238E27FC236}">
                <a16:creationId xmlns:a16="http://schemas.microsoft.com/office/drawing/2014/main" id="{C458F2DA-03EB-797B-2BA7-DE1E7C2494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38CEDC0-6D86-BFC6-2144-837B02750FD0}"/>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989314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B348-2539-49F3-4B22-6D4D5B24DC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D4CBE1-D114-2D9B-43CA-2D6D4CA00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3DD425-3A18-D7A3-9A65-A429FC7FE6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9EA514F-5F40-8A5E-5A09-5D49D3ADE3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3E0C28-B358-52D2-1380-AF7D1B9741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E7361DC-BAC5-9780-75C3-0761C5F05C3E}"/>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8" name="Footer Placeholder 7">
            <a:extLst>
              <a:ext uri="{FF2B5EF4-FFF2-40B4-BE49-F238E27FC236}">
                <a16:creationId xmlns:a16="http://schemas.microsoft.com/office/drawing/2014/main" id="{FD8C372C-0668-0836-EEFA-EE048082EF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D94EB27-9C20-BEA9-C76C-0FB3702E78DC}"/>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2704491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CCC6E-C7B3-E93A-88FD-83DFE779D74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A364957-3D69-18C4-4EB3-44BA0BEB3332}"/>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4" name="Footer Placeholder 3">
            <a:extLst>
              <a:ext uri="{FF2B5EF4-FFF2-40B4-BE49-F238E27FC236}">
                <a16:creationId xmlns:a16="http://schemas.microsoft.com/office/drawing/2014/main" id="{BFB72AF3-7AA5-1070-211D-0630A33BE0E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F97D99-BA80-1069-1EEC-93CAE4B684FA}"/>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2581490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396036-84A7-E86E-8699-3177A44C12F6}"/>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3" name="Footer Placeholder 2">
            <a:extLst>
              <a:ext uri="{FF2B5EF4-FFF2-40B4-BE49-F238E27FC236}">
                <a16:creationId xmlns:a16="http://schemas.microsoft.com/office/drawing/2014/main" id="{59505E59-DEFF-AE61-3A8C-F23DB842CE1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E0FF49C-7C5B-B00D-2D88-94E4D3A28359}"/>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1409911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1FFE1-A64A-8A1F-2F62-158F73E234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08AB93-9E28-CFC2-080A-810C9308E4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9A9100-2480-3F63-9DBB-23F87DCC56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EA50F4-7125-6D12-895E-FE4E323C1673}"/>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6" name="Footer Placeholder 5">
            <a:extLst>
              <a:ext uri="{FF2B5EF4-FFF2-40B4-BE49-F238E27FC236}">
                <a16:creationId xmlns:a16="http://schemas.microsoft.com/office/drawing/2014/main" id="{65FB956E-B362-190A-8D32-85AC930E2F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F9BBFD-2740-403E-9C05-9109BFC4B406}"/>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2810901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69D79-416C-2490-8F80-D3054F1CB9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4C3BAFB-CB2F-3D81-5290-C251790345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A1C940C-9EE0-6B71-7A5D-A1A2BBB959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221911-797B-22E3-BF36-BD92E228B842}"/>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6" name="Footer Placeholder 5">
            <a:extLst>
              <a:ext uri="{FF2B5EF4-FFF2-40B4-BE49-F238E27FC236}">
                <a16:creationId xmlns:a16="http://schemas.microsoft.com/office/drawing/2014/main" id="{D94EE9E2-CDEB-CADD-BC8F-D86468D8E9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2520F8-66CC-59A8-838F-5FB04A2425D1}"/>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332284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81D6B-A818-F975-AE98-1F74EB76DA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38DAF9-C6F4-6B80-0861-87170F9671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1E3BAA-C8B1-9B00-6A98-60B91532AB26}"/>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5" name="Footer Placeholder 4">
            <a:extLst>
              <a:ext uri="{FF2B5EF4-FFF2-40B4-BE49-F238E27FC236}">
                <a16:creationId xmlns:a16="http://schemas.microsoft.com/office/drawing/2014/main" id="{973A2ED2-1124-0C7F-1BE8-B425B9A422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EEAE7E-0EC0-2FBF-903B-81A71CE7AE00}"/>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1995189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40B8D7-32B8-E86E-62F2-B135B78E33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A73F6D-4E80-63AF-779C-A36BBB9C8F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D63CA9-0232-FF6F-A8F6-2499FDF31D9B}"/>
              </a:ext>
            </a:extLst>
          </p:cNvPr>
          <p:cNvSpPr>
            <a:spLocks noGrp="1"/>
          </p:cNvSpPr>
          <p:nvPr>
            <p:ph type="dt" sz="half" idx="10"/>
          </p:nvPr>
        </p:nvSpPr>
        <p:spPr/>
        <p:txBody>
          <a:bodyPr/>
          <a:lstStyle/>
          <a:p>
            <a:fld id="{009F4869-E973-4BFE-A199-D399C308727B}" type="datetimeFigureOut">
              <a:rPr lang="en-IN" smtClean="0"/>
              <a:t>13-12-2025</a:t>
            </a:fld>
            <a:endParaRPr lang="en-IN"/>
          </a:p>
        </p:txBody>
      </p:sp>
      <p:sp>
        <p:nvSpPr>
          <p:cNvPr id="5" name="Footer Placeholder 4">
            <a:extLst>
              <a:ext uri="{FF2B5EF4-FFF2-40B4-BE49-F238E27FC236}">
                <a16:creationId xmlns:a16="http://schemas.microsoft.com/office/drawing/2014/main" id="{204D76D4-3FF1-1B1D-11F1-1F45B49C6E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66453D-7679-18F4-29E6-6E86BDF35F19}"/>
              </a:ext>
            </a:extLst>
          </p:cNvPr>
          <p:cNvSpPr>
            <a:spLocks noGrp="1"/>
          </p:cNvSpPr>
          <p:nvPr>
            <p:ph type="sldNum" sz="quarter" idx="12"/>
          </p:nvPr>
        </p:nvSpPr>
        <p:spPr/>
        <p:txBody>
          <a:bodyPr/>
          <a:lstStyle/>
          <a:p>
            <a:fld id="{5AD6C926-C2D5-4A6C-888E-4799FCCC11E9}" type="slidenum">
              <a:rPr lang="en-IN" smtClean="0"/>
              <a:t>‹#›</a:t>
            </a:fld>
            <a:endParaRPr lang="en-IN"/>
          </a:p>
        </p:txBody>
      </p:sp>
    </p:spTree>
    <p:extLst>
      <p:ext uri="{BB962C8B-B14F-4D97-AF65-F5344CB8AC3E}">
        <p14:creationId xmlns:p14="http://schemas.microsoft.com/office/powerpoint/2010/main" val="982037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61BEDF-B63C-45A9-D7C9-9DAAB910BE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C1BCCB-05F9-B5F2-A555-9F1D80940A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32514E-CB8D-6B8A-0838-1C672A1C92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9F4869-E973-4BFE-A199-D399C308727B}" type="datetimeFigureOut">
              <a:rPr lang="en-IN" smtClean="0"/>
              <a:t>13-12-2025</a:t>
            </a:fld>
            <a:endParaRPr lang="en-IN"/>
          </a:p>
        </p:txBody>
      </p:sp>
      <p:sp>
        <p:nvSpPr>
          <p:cNvPr id="5" name="Footer Placeholder 4">
            <a:extLst>
              <a:ext uri="{FF2B5EF4-FFF2-40B4-BE49-F238E27FC236}">
                <a16:creationId xmlns:a16="http://schemas.microsoft.com/office/drawing/2014/main" id="{0C3DD5CA-9265-678F-F16E-C2FEE2B1DD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9CD324F-7297-3892-74A1-34DDCBBAB0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D6C926-C2D5-4A6C-888E-4799FCCC11E9}" type="slidenum">
              <a:rPr lang="en-IN" smtClean="0"/>
              <a:t>‹#›</a:t>
            </a:fld>
            <a:endParaRPr lang="en-IN"/>
          </a:p>
        </p:txBody>
      </p:sp>
    </p:spTree>
    <p:extLst>
      <p:ext uri="{BB962C8B-B14F-4D97-AF65-F5344CB8AC3E}">
        <p14:creationId xmlns:p14="http://schemas.microsoft.com/office/powerpoint/2010/main" val="2188295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44936A-83E2-4109-5C23-5A8462764B6B}"/>
              </a:ext>
            </a:extLst>
          </p:cNvPr>
          <p:cNvSpPr>
            <a:spLocks noGrp="1"/>
          </p:cNvSpPr>
          <p:nvPr>
            <p:ph type="title"/>
          </p:nvPr>
        </p:nvSpPr>
        <p:spPr>
          <a:xfrm>
            <a:off x="385011" y="365125"/>
            <a:ext cx="11518231" cy="1325563"/>
          </a:xfrm>
        </p:spPr>
        <p:txBody>
          <a:bodyPr>
            <a:normAutofit/>
          </a:bodyPr>
          <a:lstStyle/>
          <a:p>
            <a:r>
              <a:rPr lang="en-US" sz="3200" b="1" dirty="0">
                <a:latin typeface="Times New Roman" panose="02020603050405020304" pitchFamily="18" charset="0"/>
                <a:cs typeface="Times New Roman" panose="02020603050405020304" pitchFamily="18" charset="0"/>
              </a:rPr>
              <a:t>   Brag Board(Employee Recognition and Achievement Platform)</a:t>
            </a:r>
            <a:endParaRPr lang="en-IN" sz="32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AE5A5B3-8A36-EB95-EDFF-799F355BA3A7}"/>
              </a:ext>
            </a:extLst>
          </p:cNvPr>
          <p:cNvSpPr>
            <a:spLocks noGrp="1"/>
          </p:cNvSpPr>
          <p:nvPr>
            <p:ph idx="1"/>
          </p:nvPr>
        </p:nvSpPr>
        <p:spPr/>
        <p:txBody>
          <a:bodyPr>
            <a:normAutofit/>
          </a:bodyPr>
          <a:lstStyle/>
          <a:p>
            <a:pPr marL="0" indent="0" algn="just">
              <a:lnSpc>
                <a:spcPct val="100000"/>
              </a:lnSpc>
              <a:buNone/>
            </a:pPr>
            <a:r>
              <a:rPr lang="en-US" sz="2500" dirty="0">
                <a:latin typeface="Times New Roman" panose="02020603050405020304" pitchFamily="18" charset="0"/>
                <a:cs typeface="Times New Roman" panose="02020603050405020304" pitchFamily="18" charset="0"/>
              </a:rPr>
              <a:t>Brag Board is a web-based internal platform designed to help organizations recognize and showcase employee achievements in a structured and transparent way. It focuses on providing a centralized system where employee accomplishments can be stored, viewed, and managed efficiently within the organization</a:t>
            </a:r>
            <a:r>
              <a:rPr lang="en-US" sz="2500" dirty="0"/>
              <a:t>.</a:t>
            </a:r>
          </a:p>
          <a:p>
            <a:pPr marL="0" indent="0" algn="just">
              <a:lnSpc>
                <a:spcPct val="100000"/>
              </a:lnSpc>
              <a:buNone/>
            </a:pPr>
            <a:r>
              <a:rPr lang="en-US" sz="2500" dirty="0">
                <a:latin typeface="Times New Roman" panose="02020603050405020304" pitchFamily="18" charset="0"/>
                <a:cs typeface="Times New Roman" panose="02020603050405020304" pitchFamily="18" charset="0"/>
              </a:rPr>
              <a:t>During my internship, I worked on building the initial version of this platform by setting up both backend and frontend foundations. The work carried out in Week 1 and Week 2 focused on creating a stable architecture that can be enhanced with additional features in later phases.</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1107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4866C-7005-B16A-FDDB-E03DC1F90213}"/>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Project Introduction</a:t>
            </a:r>
          </a:p>
        </p:txBody>
      </p:sp>
      <p:sp>
        <p:nvSpPr>
          <p:cNvPr id="3" name="Content Placeholder 2">
            <a:extLst>
              <a:ext uri="{FF2B5EF4-FFF2-40B4-BE49-F238E27FC236}">
                <a16:creationId xmlns:a16="http://schemas.microsoft.com/office/drawing/2014/main" id="{ED8C3602-7049-70B9-6B07-C3FEA6F809B6}"/>
              </a:ext>
            </a:extLst>
          </p:cNvPr>
          <p:cNvSpPr>
            <a:spLocks noGrp="1"/>
          </p:cNvSpPr>
          <p:nvPr>
            <p:ph idx="1"/>
          </p:nvPr>
        </p:nvSpPr>
        <p:spPr>
          <a:xfrm>
            <a:off x="838200" y="1690688"/>
            <a:ext cx="10515600" cy="4351338"/>
          </a:xfrm>
        </p:spPr>
        <p:txBody>
          <a:bodyPr>
            <a:normAutofit fontScale="92500" lnSpcReduction="20000"/>
          </a:bodyPr>
          <a:lstStyle/>
          <a:p>
            <a:pPr marL="0" indent="0" algn="just">
              <a:lnSpc>
                <a:spcPct val="150000"/>
              </a:lnSpc>
              <a:buNone/>
            </a:pPr>
            <a:r>
              <a:rPr lang="en-US" sz="2700" dirty="0">
                <a:latin typeface="Times New Roman" panose="02020603050405020304" pitchFamily="18" charset="0"/>
                <a:cs typeface="Times New Roman" panose="02020603050405020304" pitchFamily="18" charset="0"/>
              </a:rPr>
              <a:t>In many organizations, employee achievements such as certifications, awards, and successful project completions are spread across emails, spreadsheets, or internal messages. This makes tracking and recognition difficult and inconsistent across teams.</a:t>
            </a:r>
          </a:p>
          <a:p>
            <a:pPr marL="0" indent="0" algn="just">
              <a:lnSpc>
                <a:spcPct val="150000"/>
              </a:lnSpc>
              <a:buNone/>
            </a:pPr>
            <a:r>
              <a:rPr lang="en-US" sz="2700" dirty="0">
                <a:latin typeface="Times New Roman" panose="02020603050405020304" pitchFamily="18" charset="0"/>
                <a:cs typeface="Times New Roman" panose="02020603050405020304" pitchFamily="18" charset="0"/>
              </a:rPr>
              <a:t>Brag Board aims to solve this problem by providing a single digital platform where achievements can be recorded and accessed easily. This helps improve transparency, employee motivation, and structured recognition within the organization.</a:t>
            </a:r>
          </a:p>
          <a:p>
            <a:endParaRPr lang="en-IN" dirty="0"/>
          </a:p>
        </p:txBody>
      </p:sp>
    </p:spTree>
    <p:extLst>
      <p:ext uri="{BB962C8B-B14F-4D97-AF65-F5344CB8AC3E}">
        <p14:creationId xmlns:p14="http://schemas.microsoft.com/office/powerpoint/2010/main" val="1194302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20DCB-92D8-5B58-D065-9FD7122FA49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Project Overview</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E5D3FB-6742-6DE1-8858-6542AB016093}"/>
              </a:ext>
            </a:extLst>
          </p:cNvPr>
          <p:cNvSpPr>
            <a:spLocks noGrp="1"/>
          </p:cNvSpPr>
          <p:nvPr>
            <p:ph idx="1"/>
          </p:nvPr>
        </p:nvSpPr>
        <p:spPr/>
        <p:txBody>
          <a:bodyPr>
            <a:normAutofit/>
          </a:bodyPr>
          <a:lstStyle/>
          <a:p>
            <a:pPr marL="0" indent="0" algn="just">
              <a:lnSpc>
                <a:spcPct val="150000"/>
              </a:lnSpc>
              <a:buNone/>
            </a:pPr>
            <a:r>
              <a:rPr lang="en-US" sz="2500" dirty="0">
                <a:latin typeface="Times New Roman" panose="02020603050405020304" pitchFamily="18" charset="0"/>
                <a:cs typeface="Times New Roman" panose="02020603050405020304" pitchFamily="18" charset="0"/>
              </a:rPr>
              <a:t>Brag Board is designed as a full-stack web application with a clear separation between backend services and frontend interface. The backend is responsible for handling data storage, logic, and secure communication with the database.</a:t>
            </a:r>
          </a:p>
          <a:p>
            <a:pPr marL="0" indent="0" algn="just">
              <a:lnSpc>
                <a:spcPct val="150000"/>
              </a:lnSpc>
              <a:buNone/>
            </a:pPr>
            <a:r>
              <a:rPr lang="en-US" sz="2500" dirty="0">
                <a:latin typeface="Times New Roman" panose="02020603050405020304" pitchFamily="18" charset="0"/>
                <a:cs typeface="Times New Roman" panose="02020603050405020304" pitchFamily="18" charset="0"/>
              </a:rPr>
              <a:t>The frontend provides a user-friendly interface that allows users to interact with the system. This separation ensures better maintainability, scalability, and smoother future enhancements.</a:t>
            </a:r>
          </a:p>
          <a:p>
            <a:pPr marL="0" indent="0" algn="just">
              <a:buNone/>
            </a:pP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1796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954DA-1970-15AD-9A35-4459BD5DDD7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Tools &amp; Technologies Used</a:t>
            </a:r>
          </a:p>
        </p:txBody>
      </p:sp>
      <p:sp>
        <p:nvSpPr>
          <p:cNvPr id="3" name="Content Placeholder 2">
            <a:extLst>
              <a:ext uri="{FF2B5EF4-FFF2-40B4-BE49-F238E27FC236}">
                <a16:creationId xmlns:a16="http://schemas.microsoft.com/office/drawing/2014/main" id="{257E38F9-C1A5-04EE-9CD2-D37E3630C05C}"/>
              </a:ext>
            </a:extLst>
          </p:cNvPr>
          <p:cNvSpPr>
            <a:spLocks noGrp="1"/>
          </p:cNvSpPr>
          <p:nvPr>
            <p:ph idx="1"/>
          </p:nvPr>
        </p:nvSpPr>
        <p:spPr/>
        <p:txBody>
          <a:bodyPr/>
          <a:lstStyle/>
          <a:p>
            <a:pPr algn="just">
              <a:lnSpc>
                <a:spcPct val="150000"/>
              </a:lnSpc>
            </a:pPr>
            <a:r>
              <a:rPr lang="en-IN" sz="2500" b="1" dirty="0">
                <a:latin typeface="Times New Roman" panose="02020603050405020304" pitchFamily="18" charset="0"/>
                <a:cs typeface="Times New Roman" panose="02020603050405020304" pitchFamily="18" charset="0"/>
              </a:rPr>
              <a:t>Backend Tools:</a:t>
            </a:r>
            <a:r>
              <a:rPr lang="en-IN" sz="2500" dirty="0">
                <a:latin typeface="Times New Roman" panose="02020603050405020304" pitchFamily="18" charset="0"/>
                <a:cs typeface="Times New Roman" panose="02020603050405020304" pitchFamily="18" charset="0"/>
              </a:rPr>
              <a:t> Python, </a:t>
            </a:r>
            <a:r>
              <a:rPr lang="en-IN" sz="2500" dirty="0" err="1">
                <a:latin typeface="Times New Roman" panose="02020603050405020304" pitchFamily="18" charset="0"/>
                <a:cs typeface="Times New Roman" panose="02020603050405020304" pitchFamily="18" charset="0"/>
              </a:rPr>
              <a:t>FastAPI</a:t>
            </a:r>
            <a:r>
              <a:rPr lang="en-IN" sz="2500" dirty="0">
                <a:latin typeface="Times New Roman" panose="02020603050405020304" pitchFamily="18" charset="0"/>
                <a:cs typeface="Times New Roman" panose="02020603050405020304" pitchFamily="18" charset="0"/>
              </a:rPr>
              <a:t> for API development, </a:t>
            </a:r>
            <a:r>
              <a:rPr lang="en-IN" sz="2500" dirty="0" err="1">
                <a:latin typeface="Times New Roman" panose="02020603050405020304" pitchFamily="18" charset="0"/>
                <a:cs typeface="Times New Roman" panose="02020603050405020304" pitchFamily="18" charset="0"/>
              </a:rPr>
              <a:t>SQLAlchemy</a:t>
            </a:r>
            <a:r>
              <a:rPr lang="en-IN" sz="2500" dirty="0">
                <a:latin typeface="Times New Roman" panose="02020603050405020304" pitchFamily="18" charset="0"/>
                <a:cs typeface="Times New Roman" panose="02020603050405020304" pitchFamily="18" charset="0"/>
              </a:rPr>
              <a:t> for database interaction, PostgreSQL as the relational database, and </a:t>
            </a:r>
            <a:r>
              <a:rPr lang="en-IN" sz="2500" dirty="0" err="1">
                <a:latin typeface="Times New Roman" panose="02020603050405020304" pitchFamily="18" charset="0"/>
                <a:cs typeface="Times New Roman" panose="02020603050405020304" pitchFamily="18" charset="0"/>
              </a:rPr>
              <a:t>Uvicorn</a:t>
            </a:r>
            <a:r>
              <a:rPr lang="en-IN" sz="2500" dirty="0">
                <a:latin typeface="Times New Roman" panose="02020603050405020304" pitchFamily="18" charset="0"/>
                <a:cs typeface="Times New Roman" panose="02020603050405020304" pitchFamily="18" charset="0"/>
              </a:rPr>
              <a:t> as the backend application server.</a:t>
            </a:r>
          </a:p>
          <a:p>
            <a:pPr algn="just">
              <a:lnSpc>
                <a:spcPct val="150000"/>
              </a:lnSpc>
            </a:pPr>
            <a:r>
              <a:rPr lang="en-IN" sz="2500" b="1" dirty="0">
                <a:latin typeface="Times New Roman" panose="02020603050405020304" pitchFamily="18" charset="0"/>
                <a:cs typeface="Times New Roman" panose="02020603050405020304" pitchFamily="18" charset="0"/>
              </a:rPr>
              <a:t>Frontend Tools:</a:t>
            </a:r>
            <a:r>
              <a:rPr lang="en-IN" sz="2500" dirty="0">
                <a:latin typeface="Times New Roman" panose="02020603050405020304" pitchFamily="18" charset="0"/>
                <a:cs typeface="Times New Roman" panose="02020603050405020304" pitchFamily="18" charset="0"/>
              </a:rPr>
              <a:t> React.js for building the user interface, Vite as the development and build tool, HTML, CSS, JavaScript for structure and logic, Tailwind CSS for styling, and Node.js with </a:t>
            </a:r>
            <a:r>
              <a:rPr lang="en-IN" sz="2500" dirty="0" err="1">
                <a:latin typeface="Times New Roman" panose="02020603050405020304" pitchFamily="18" charset="0"/>
                <a:cs typeface="Times New Roman" panose="02020603050405020304" pitchFamily="18" charset="0"/>
              </a:rPr>
              <a:t>npm</a:t>
            </a:r>
            <a:r>
              <a:rPr lang="en-IN" sz="2500" dirty="0">
                <a:latin typeface="Times New Roman" panose="02020603050405020304" pitchFamily="18" charset="0"/>
                <a:cs typeface="Times New Roman" panose="02020603050405020304" pitchFamily="18" charset="0"/>
              </a:rPr>
              <a:t> for dependency management.</a:t>
            </a:r>
          </a:p>
          <a:p>
            <a:pPr marL="0" indent="0">
              <a:buNone/>
            </a:pPr>
            <a:endParaRPr lang="en-IN" dirty="0"/>
          </a:p>
        </p:txBody>
      </p:sp>
    </p:spTree>
    <p:extLst>
      <p:ext uri="{BB962C8B-B14F-4D97-AF65-F5344CB8AC3E}">
        <p14:creationId xmlns:p14="http://schemas.microsoft.com/office/powerpoint/2010/main" val="132652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8868-158C-E5D2-E25F-4CF2AD8830AE}"/>
              </a:ext>
            </a:extLst>
          </p:cNvPr>
          <p:cNvSpPr>
            <a:spLocks noGrp="1"/>
          </p:cNvSpPr>
          <p:nvPr>
            <p:ph type="title"/>
          </p:nvPr>
        </p:nvSpPr>
        <p:spPr>
          <a:xfrm>
            <a:off x="838200" y="365125"/>
            <a:ext cx="10515600" cy="870117"/>
          </a:xfrm>
        </p:spPr>
        <p:txBody>
          <a:bodyPr>
            <a:normAutofit/>
          </a:bodyPr>
          <a:lstStyle/>
          <a:p>
            <a:pPr algn="ctr"/>
            <a:r>
              <a:rPr lang="en-IN" sz="3500" b="1" dirty="0">
                <a:latin typeface="Times New Roman" panose="02020603050405020304" pitchFamily="18" charset="0"/>
                <a:cs typeface="Times New Roman" panose="02020603050405020304" pitchFamily="18" charset="0"/>
              </a:rPr>
              <a:t>Week 1 – Backend Development And Implementation</a:t>
            </a:r>
          </a:p>
        </p:txBody>
      </p:sp>
      <p:sp>
        <p:nvSpPr>
          <p:cNvPr id="3" name="Content Placeholder 2">
            <a:extLst>
              <a:ext uri="{FF2B5EF4-FFF2-40B4-BE49-F238E27FC236}">
                <a16:creationId xmlns:a16="http://schemas.microsoft.com/office/drawing/2014/main" id="{133F3239-264E-02D9-3A86-A942428D4B9F}"/>
              </a:ext>
            </a:extLst>
          </p:cNvPr>
          <p:cNvSpPr>
            <a:spLocks noGrp="1"/>
          </p:cNvSpPr>
          <p:nvPr>
            <p:ph idx="1"/>
          </p:nvPr>
        </p:nvSpPr>
        <p:spPr>
          <a:xfrm>
            <a:off x="838200" y="1411706"/>
            <a:ext cx="10515600" cy="5277852"/>
          </a:xfrm>
        </p:spPr>
        <p:txBody>
          <a:bodyPr>
            <a:normAutofit/>
          </a:bodyPr>
          <a:lstStyle/>
          <a:p>
            <a:pPr algn="just">
              <a:lnSpc>
                <a:spcPct val="100000"/>
              </a:lnSpc>
            </a:pPr>
            <a:r>
              <a:rPr lang="en-US" sz="2500" dirty="0">
                <a:latin typeface="Times New Roman" panose="02020603050405020304" pitchFamily="18" charset="0"/>
                <a:cs typeface="Times New Roman" panose="02020603050405020304" pitchFamily="18" charset="0"/>
              </a:rPr>
              <a:t>Week 1 was dedicated to setting up the backend architecture of the Brag Board application. This included creating the project structure, configuring the development environment, and preparing the backend to run independently.</a:t>
            </a:r>
          </a:p>
          <a:p>
            <a:pPr algn="just">
              <a:lnSpc>
                <a:spcPct val="100000"/>
              </a:lnSpc>
            </a:pPr>
            <a:r>
              <a:rPr lang="en-US" sz="2500" dirty="0">
                <a:latin typeface="Times New Roman" panose="02020603050405020304" pitchFamily="18" charset="0"/>
                <a:cs typeface="Times New Roman" panose="02020603050405020304" pitchFamily="18" charset="0"/>
              </a:rPr>
              <a:t>The main objective during this phase was to ensure that the backend services could connect to the database, expose APIs, and remain stable for further development and frontend integration.</a:t>
            </a:r>
          </a:p>
          <a:p>
            <a:pPr algn="just">
              <a:lnSpc>
                <a:spcPct val="100000"/>
              </a:lnSpc>
            </a:pPr>
            <a:r>
              <a:rPr lang="en-US" sz="2500" dirty="0" err="1">
                <a:latin typeface="Times New Roman" panose="02020603050405020304" pitchFamily="18" charset="0"/>
                <a:cs typeface="Times New Roman" panose="02020603050405020304" pitchFamily="18" charset="0"/>
              </a:rPr>
              <a:t>FastAPI</a:t>
            </a:r>
            <a:r>
              <a:rPr lang="en-US" sz="2500" dirty="0">
                <a:latin typeface="Times New Roman" panose="02020603050405020304" pitchFamily="18" charset="0"/>
                <a:cs typeface="Times New Roman" panose="02020603050405020304" pitchFamily="18" charset="0"/>
              </a:rPr>
              <a:t> was used to implement REST APIs, and </a:t>
            </a:r>
            <a:r>
              <a:rPr lang="en-US" sz="2500" dirty="0" err="1">
                <a:latin typeface="Times New Roman" panose="02020603050405020304" pitchFamily="18" charset="0"/>
                <a:cs typeface="Times New Roman" panose="02020603050405020304" pitchFamily="18" charset="0"/>
              </a:rPr>
              <a:t>SQLAlchemy</a:t>
            </a:r>
            <a:r>
              <a:rPr lang="en-US" sz="2500" dirty="0">
                <a:latin typeface="Times New Roman" panose="02020603050405020304" pitchFamily="18" charset="0"/>
                <a:cs typeface="Times New Roman" panose="02020603050405020304" pitchFamily="18" charset="0"/>
              </a:rPr>
              <a:t> was configured to manage database operations efficiently. Environment variables were used to store sensitive configuration details securely.</a:t>
            </a:r>
          </a:p>
          <a:p>
            <a:pPr algn="just">
              <a:lnSpc>
                <a:spcPct val="100000"/>
              </a:lnSpc>
            </a:pPr>
            <a:r>
              <a:rPr lang="en-US" sz="2500" dirty="0">
                <a:latin typeface="Times New Roman" panose="02020603050405020304" pitchFamily="18" charset="0"/>
                <a:cs typeface="Times New Roman" panose="02020603050405020304" pitchFamily="18" charset="0"/>
              </a:rPr>
              <a:t>All APIs were tested using Swagger UI to verify correct request and response behavior. The backend server was successfully run using </a:t>
            </a:r>
            <a:r>
              <a:rPr lang="en-US" sz="2500" dirty="0" err="1">
                <a:latin typeface="Times New Roman" panose="02020603050405020304" pitchFamily="18" charset="0"/>
                <a:cs typeface="Times New Roman" panose="02020603050405020304" pitchFamily="18" charset="0"/>
              </a:rPr>
              <a:t>Uvicorn</a:t>
            </a:r>
            <a:r>
              <a:rPr lang="en-US" sz="2500" dirty="0">
                <a:latin typeface="Times New Roman" panose="02020603050405020304" pitchFamily="18" charset="0"/>
                <a:cs typeface="Times New Roman" panose="02020603050405020304" pitchFamily="18" charset="0"/>
              </a:rPr>
              <a:t>, confirming proper backend functionality.</a:t>
            </a:r>
          </a:p>
          <a:p>
            <a:pPr marL="0" indent="0" algn="just">
              <a:lnSpc>
                <a:spcPct val="100000"/>
              </a:lnSpc>
              <a:buNone/>
            </a:pPr>
            <a:endParaRPr lang="en-US" sz="25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018075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4393FD-4D97-1240-C53C-314251606864}"/>
              </a:ext>
            </a:extLst>
          </p:cNvPr>
          <p:cNvSpPr>
            <a:spLocks noGrp="1"/>
          </p:cNvSpPr>
          <p:nvPr>
            <p:ph type="title"/>
          </p:nvPr>
        </p:nvSpPr>
        <p:spPr/>
        <p:txBody>
          <a:bodyPr/>
          <a:lstStyle/>
          <a:p>
            <a:r>
              <a:rPr lang="en-US" dirty="0"/>
              <a:t>               </a:t>
            </a:r>
            <a:r>
              <a:rPr lang="en-US" b="1" dirty="0">
                <a:latin typeface="Times New Roman" panose="02020603050405020304" pitchFamily="18" charset="0"/>
                <a:cs typeface="Times New Roman" panose="02020603050405020304" pitchFamily="18" charset="0"/>
              </a:rPr>
              <a:t>Snapshots of Backend</a:t>
            </a:r>
            <a:endParaRPr lang="en-IN" b="1"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C641A638-F17F-4B43-D262-66C3B114CE16}"/>
              </a:ext>
            </a:extLst>
          </p:cNvPr>
          <p:cNvSpPr>
            <a:spLocks noGrp="1"/>
          </p:cNvSpPr>
          <p:nvPr>
            <p:ph type="body" idx="1"/>
          </p:nvPr>
        </p:nvSpPr>
        <p:spPr/>
        <p:txBody>
          <a:bodyPr>
            <a:normAutofit/>
          </a:bodyPr>
          <a:lstStyle/>
          <a:p>
            <a:pPr algn="ctr"/>
            <a:r>
              <a:rPr lang="en-IN" sz="2800" dirty="0">
                <a:latin typeface="Times New Roman" panose="02020603050405020304" pitchFamily="18" charset="0"/>
                <a:cs typeface="Times New Roman" panose="02020603050405020304" pitchFamily="18" charset="0"/>
              </a:rPr>
              <a:t>Backend running in terminal</a:t>
            </a:r>
          </a:p>
        </p:txBody>
      </p:sp>
      <p:sp>
        <p:nvSpPr>
          <p:cNvPr id="7" name="Text Placeholder 6">
            <a:extLst>
              <a:ext uri="{FF2B5EF4-FFF2-40B4-BE49-F238E27FC236}">
                <a16:creationId xmlns:a16="http://schemas.microsoft.com/office/drawing/2014/main" id="{A645D178-7801-EB09-3980-62EDA68B80A3}"/>
              </a:ext>
            </a:extLst>
          </p:cNvPr>
          <p:cNvSpPr>
            <a:spLocks noGrp="1"/>
          </p:cNvSpPr>
          <p:nvPr>
            <p:ph type="body" sz="quarter" idx="3"/>
          </p:nvPr>
        </p:nvSpPr>
        <p:spPr/>
        <p:txBody>
          <a:bodyPr>
            <a:normAutofit/>
          </a:bodyPr>
          <a:lstStyle/>
          <a:p>
            <a:pPr algn="ctr"/>
            <a:r>
              <a:rPr lang="en-IN" sz="2800" dirty="0">
                <a:latin typeface="Times New Roman" panose="02020603050405020304" pitchFamily="18" charset="0"/>
                <a:cs typeface="Times New Roman" panose="02020603050405020304" pitchFamily="18" charset="0"/>
              </a:rPr>
              <a:t>Swagger UI testing</a:t>
            </a:r>
          </a:p>
        </p:txBody>
      </p:sp>
      <p:pic>
        <p:nvPicPr>
          <p:cNvPr id="16" name="Content Placeholder 15" descr="A screen shot of a computer&#10;&#10;AI-generated content may be incorrect.">
            <a:extLst>
              <a:ext uri="{FF2B5EF4-FFF2-40B4-BE49-F238E27FC236}">
                <a16:creationId xmlns:a16="http://schemas.microsoft.com/office/drawing/2014/main" id="{80EEC820-E455-0474-AC61-BD574CAA44D3}"/>
              </a:ext>
            </a:extLst>
          </p:cNvPr>
          <p:cNvPicPr>
            <a:picLocks noGrp="1" noChangeAspect="1"/>
          </p:cNvPicPr>
          <p:nvPr>
            <p:ph sz="half" idx="2"/>
          </p:nvPr>
        </p:nvPicPr>
        <p:blipFill>
          <a:blip r:embed="rId2"/>
          <a:stretch>
            <a:fillRect/>
          </a:stretch>
        </p:blipFill>
        <p:spPr>
          <a:xfrm>
            <a:off x="1199046" y="3032735"/>
            <a:ext cx="4439270" cy="2629267"/>
          </a:xfrm>
          <a:prstGeom prst="rect">
            <a:avLst/>
          </a:prstGeom>
        </p:spPr>
      </p:pic>
      <p:pic>
        <p:nvPicPr>
          <p:cNvPr id="17" name="Content Placeholder 16">
            <a:extLst>
              <a:ext uri="{FF2B5EF4-FFF2-40B4-BE49-F238E27FC236}">
                <a16:creationId xmlns:a16="http://schemas.microsoft.com/office/drawing/2014/main" id="{67C171D7-EC47-FB1F-B9CC-3E188121080C}"/>
              </a:ext>
            </a:extLst>
          </p:cNvPr>
          <p:cNvPicPr>
            <a:picLocks noGrp="1" noChangeAspect="1"/>
          </p:cNvPicPr>
          <p:nvPr>
            <p:ph sz="quarter" idx="4"/>
          </p:nvPr>
        </p:nvPicPr>
        <p:blipFill>
          <a:blip r:embed="rId3" cstate="print">
            <a:extLst>
              <a:ext uri="{28A0092B-C50C-407E-A947-70E740481C1C}">
                <a14:useLocalDpi xmlns:a14="http://schemas.microsoft.com/office/drawing/2010/main" val="0"/>
              </a:ext>
            </a:extLst>
          </a:blip>
          <a:stretch>
            <a:fillRect/>
          </a:stretch>
        </p:blipFill>
        <p:spPr>
          <a:xfrm>
            <a:off x="6172200" y="2925748"/>
            <a:ext cx="5183188" cy="2843241"/>
          </a:xfrm>
          <a:prstGeom prst="rect">
            <a:avLst/>
          </a:prstGeom>
        </p:spPr>
      </p:pic>
    </p:spTree>
    <p:extLst>
      <p:ext uri="{BB962C8B-B14F-4D97-AF65-F5344CB8AC3E}">
        <p14:creationId xmlns:p14="http://schemas.microsoft.com/office/powerpoint/2010/main" val="512690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95F5B-4703-113E-7DC3-E5FD0BCE4C22}"/>
              </a:ext>
            </a:extLst>
          </p:cNvPr>
          <p:cNvSpPr>
            <a:spLocks noGrp="1"/>
          </p:cNvSpPr>
          <p:nvPr>
            <p:ph type="title"/>
          </p:nvPr>
        </p:nvSpPr>
        <p:spPr>
          <a:xfrm>
            <a:off x="838200" y="1"/>
            <a:ext cx="10515600" cy="930441"/>
          </a:xfrm>
        </p:spPr>
        <p:txBody>
          <a:bodyPr>
            <a:normAutofit/>
          </a:bodyPr>
          <a:lstStyle/>
          <a:p>
            <a:pPr algn="ctr"/>
            <a:r>
              <a:rPr lang="en-IN" sz="3600" b="1" dirty="0">
                <a:latin typeface="Times New Roman" panose="02020603050405020304" pitchFamily="18" charset="0"/>
                <a:cs typeface="Times New Roman" panose="02020603050405020304" pitchFamily="18" charset="0"/>
              </a:rPr>
              <a:t>Database Integration &amp; Validation</a:t>
            </a:r>
          </a:p>
        </p:txBody>
      </p:sp>
      <p:sp>
        <p:nvSpPr>
          <p:cNvPr id="7" name="Content Placeholder 6">
            <a:extLst>
              <a:ext uri="{FF2B5EF4-FFF2-40B4-BE49-F238E27FC236}">
                <a16:creationId xmlns:a16="http://schemas.microsoft.com/office/drawing/2014/main" id="{56BF6493-805D-129C-98C1-1F531790B90F}"/>
              </a:ext>
            </a:extLst>
          </p:cNvPr>
          <p:cNvSpPr>
            <a:spLocks noGrp="1"/>
          </p:cNvSpPr>
          <p:nvPr>
            <p:ph idx="1"/>
          </p:nvPr>
        </p:nvSpPr>
        <p:spPr>
          <a:xfrm>
            <a:off x="838200" y="930443"/>
            <a:ext cx="10515600" cy="5743074"/>
          </a:xfrm>
        </p:spPr>
        <p:txBody>
          <a:bodyPr/>
          <a:lstStyle/>
          <a:p>
            <a:pPr marL="0" indent="0" algn="just">
              <a:lnSpc>
                <a:spcPct val="100000"/>
              </a:lnSpc>
              <a:buNone/>
            </a:pPr>
            <a:r>
              <a:rPr lang="en-US" sz="2400" dirty="0">
                <a:latin typeface="Times New Roman" panose="02020603050405020304" pitchFamily="18" charset="0"/>
                <a:cs typeface="Times New Roman" panose="02020603050405020304" pitchFamily="18" charset="0"/>
              </a:rPr>
              <a:t>PostgreSQL was integrated as the main database for the application. </a:t>
            </a:r>
            <a:r>
              <a:rPr lang="en-US" sz="2400" dirty="0" err="1">
                <a:latin typeface="Times New Roman" panose="02020603050405020304" pitchFamily="18" charset="0"/>
                <a:cs typeface="Times New Roman" panose="02020603050405020304" pitchFamily="18" charset="0"/>
              </a:rPr>
              <a:t>SQLAlchemy</a:t>
            </a:r>
            <a:r>
              <a:rPr lang="en-US" sz="2400" dirty="0">
                <a:latin typeface="Times New Roman" panose="02020603050405020304" pitchFamily="18" charset="0"/>
                <a:cs typeface="Times New Roman" panose="02020603050405020304" pitchFamily="18" charset="0"/>
              </a:rPr>
              <a:t> ORM models were used to define database tables and manage data interactions. Basic validation was performed to confirm successful data storage and retrieval. This ensured that the backend database layer was fully functional and ready for frontend connectivity.</a:t>
            </a:r>
          </a:p>
          <a:p>
            <a:pPr marL="0" indent="0" algn="just">
              <a:lnSpc>
                <a:spcPct val="100000"/>
              </a:lnSpc>
              <a:buNone/>
            </a:pPr>
            <a:endParaRPr lang="en-US" sz="2400"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8" name="Picture 7">
            <a:extLst>
              <a:ext uri="{FF2B5EF4-FFF2-40B4-BE49-F238E27FC236}">
                <a16:creationId xmlns:a16="http://schemas.microsoft.com/office/drawing/2014/main" id="{B4552A0E-FE5B-4934-BFD0-D7EF31BE56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0393" y="2897422"/>
            <a:ext cx="4453923" cy="1809115"/>
          </a:xfrm>
          <a:prstGeom prst="rect">
            <a:avLst/>
          </a:prstGeom>
        </p:spPr>
      </p:pic>
      <p:pic>
        <p:nvPicPr>
          <p:cNvPr id="9" name="Picture 8">
            <a:extLst>
              <a:ext uri="{FF2B5EF4-FFF2-40B4-BE49-F238E27FC236}">
                <a16:creationId xmlns:a16="http://schemas.microsoft.com/office/drawing/2014/main" id="{1C93F523-F20D-FC8D-C4C2-E5235AF888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6277" y="2897422"/>
            <a:ext cx="5731510" cy="1809115"/>
          </a:xfrm>
          <a:prstGeom prst="rect">
            <a:avLst/>
          </a:prstGeom>
        </p:spPr>
      </p:pic>
      <p:pic>
        <p:nvPicPr>
          <p:cNvPr id="10" name="Picture 9">
            <a:extLst>
              <a:ext uri="{FF2B5EF4-FFF2-40B4-BE49-F238E27FC236}">
                <a16:creationId xmlns:a16="http://schemas.microsoft.com/office/drawing/2014/main" id="{F3D64FA7-FD16-8B71-577C-2C26246F30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40522" y="4859764"/>
            <a:ext cx="5731510" cy="1660525"/>
          </a:xfrm>
          <a:prstGeom prst="rect">
            <a:avLst/>
          </a:prstGeom>
        </p:spPr>
      </p:pic>
    </p:spTree>
    <p:extLst>
      <p:ext uri="{BB962C8B-B14F-4D97-AF65-F5344CB8AC3E}">
        <p14:creationId xmlns:p14="http://schemas.microsoft.com/office/powerpoint/2010/main" val="129437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CAF5-D1B0-CB7D-3017-D7153ED3F02E}"/>
              </a:ext>
            </a:extLst>
          </p:cNvPr>
          <p:cNvSpPr>
            <a:spLocks noGrp="1"/>
          </p:cNvSpPr>
          <p:nvPr>
            <p:ph type="title"/>
          </p:nvPr>
        </p:nvSpPr>
        <p:spPr/>
        <p:txBody>
          <a:bodyPr>
            <a:normAutofit/>
          </a:bodyPr>
          <a:lstStyle/>
          <a:p>
            <a:pPr algn="ctr"/>
            <a:r>
              <a:rPr lang="en-IN" sz="3500" b="1" dirty="0">
                <a:latin typeface="Times New Roman" panose="02020603050405020304" pitchFamily="18" charset="0"/>
                <a:cs typeface="Times New Roman" panose="02020603050405020304" pitchFamily="18" charset="0"/>
              </a:rPr>
              <a:t>Week 2 – Frontend Development and Implementation</a:t>
            </a:r>
          </a:p>
        </p:txBody>
      </p:sp>
      <p:sp>
        <p:nvSpPr>
          <p:cNvPr id="3" name="Content Placeholder 2">
            <a:extLst>
              <a:ext uri="{FF2B5EF4-FFF2-40B4-BE49-F238E27FC236}">
                <a16:creationId xmlns:a16="http://schemas.microsoft.com/office/drawing/2014/main" id="{054F191A-641B-2DAB-7077-9DC60085C1A7}"/>
              </a:ext>
            </a:extLst>
          </p:cNvPr>
          <p:cNvSpPr>
            <a:spLocks noGrp="1"/>
          </p:cNvSpPr>
          <p:nvPr>
            <p:ph idx="1"/>
          </p:nvPr>
        </p:nvSpPr>
        <p:spPr/>
        <p:txBody>
          <a:bodyPr>
            <a:normAutofit fontScale="92500" lnSpcReduction="10000"/>
          </a:bodyPr>
          <a:lstStyle/>
          <a:p>
            <a:pPr algn="just">
              <a:lnSpc>
                <a:spcPct val="110000"/>
              </a:lnSpc>
            </a:pPr>
            <a:r>
              <a:rPr lang="en-US" sz="2700" dirty="0">
                <a:latin typeface="Times New Roman" panose="02020603050405020304" pitchFamily="18" charset="0"/>
                <a:cs typeface="Times New Roman" panose="02020603050405020304" pitchFamily="18" charset="0"/>
              </a:rPr>
              <a:t>Week 2 focused on setting up the frontend environment using React with Vite. The project structure was created to support scalable UI development and future API integration.</a:t>
            </a:r>
          </a:p>
          <a:p>
            <a:pPr algn="just">
              <a:lnSpc>
                <a:spcPct val="110000"/>
              </a:lnSpc>
            </a:pPr>
            <a:r>
              <a:rPr lang="en-US" sz="2700" dirty="0">
                <a:latin typeface="Times New Roman" panose="02020603050405020304" pitchFamily="18" charset="0"/>
                <a:cs typeface="Times New Roman" panose="02020603050405020304" pitchFamily="18" charset="0"/>
              </a:rPr>
              <a:t>The goal of this phase was to establish a clean and organized frontend foundation that could communicate with backend services in the next stage.</a:t>
            </a:r>
          </a:p>
          <a:p>
            <a:pPr algn="just">
              <a:lnSpc>
                <a:spcPct val="110000"/>
              </a:lnSpc>
            </a:pPr>
            <a:r>
              <a:rPr lang="en-US" sz="2700" dirty="0">
                <a:latin typeface="Times New Roman" panose="02020603050405020304" pitchFamily="18" charset="0"/>
                <a:cs typeface="Times New Roman" panose="02020603050405020304" pitchFamily="18" charset="0"/>
              </a:rPr>
              <a:t>Tailwind CSS was configured to provide consistent and responsive styling across the application. Core UI components and layout structure were prepared during this phase.</a:t>
            </a:r>
          </a:p>
          <a:p>
            <a:pPr algn="just">
              <a:lnSpc>
                <a:spcPct val="110000"/>
              </a:lnSpc>
            </a:pPr>
            <a:r>
              <a:rPr lang="en-US" sz="2700" dirty="0">
                <a:latin typeface="Times New Roman" panose="02020603050405020304" pitchFamily="18" charset="0"/>
                <a:cs typeface="Times New Roman" panose="02020603050405020304" pitchFamily="18" charset="0"/>
              </a:rPr>
              <a:t>The frontend development server was launched successfully, and pages were rendered in the browser, confirming correct setup and functionality.</a:t>
            </a:r>
          </a:p>
          <a:p>
            <a:pPr marL="0" indent="0">
              <a:buNone/>
            </a:pPr>
            <a:endParaRPr lang="en-IN" dirty="0"/>
          </a:p>
        </p:txBody>
      </p:sp>
    </p:spTree>
    <p:extLst>
      <p:ext uri="{BB962C8B-B14F-4D97-AF65-F5344CB8AC3E}">
        <p14:creationId xmlns:p14="http://schemas.microsoft.com/office/powerpoint/2010/main" val="699939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2451C-1DDA-E00E-FDDD-8F3AC1CD28C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Snapshots of Frontend</a:t>
            </a:r>
            <a:endParaRPr lang="en-IN" dirty="0"/>
          </a:p>
        </p:txBody>
      </p:sp>
      <p:pic>
        <p:nvPicPr>
          <p:cNvPr id="4" name="Content Placeholder 3">
            <a:extLst>
              <a:ext uri="{FF2B5EF4-FFF2-40B4-BE49-F238E27FC236}">
                <a16:creationId xmlns:a16="http://schemas.microsoft.com/office/drawing/2014/main" id="{9B160D53-B033-C716-D7DA-0736F7C693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0706" y="1533149"/>
            <a:ext cx="4275455" cy="2345234"/>
          </a:xfrm>
          <a:prstGeom prst="rect">
            <a:avLst/>
          </a:prstGeom>
        </p:spPr>
      </p:pic>
      <p:pic>
        <p:nvPicPr>
          <p:cNvPr id="5" name="Picture 4">
            <a:extLst>
              <a:ext uri="{FF2B5EF4-FFF2-40B4-BE49-F238E27FC236}">
                <a16:creationId xmlns:a16="http://schemas.microsoft.com/office/drawing/2014/main" id="{684F26CD-60DF-513E-9372-2E1F58B1D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1477" y="1533149"/>
            <a:ext cx="4825281" cy="23452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E16C7AB0-C32B-18EF-B26D-CE6213CB7D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0706" y="4147639"/>
            <a:ext cx="4275455" cy="23452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FFBBACE6-8B99-B17D-CB3E-F6FAE888116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4147639"/>
            <a:ext cx="5159776" cy="23452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570389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2963-0A80-0220-5878-6CB7727DF68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 &amp; Next Steps</a:t>
            </a:r>
          </a:p>
        </p:txBody>
      </p:sp>
      <p:sp>
        <p:nvSpPr>
          <p:cNvPr id="3" name="Content Placeholder 2">
            <a:extLst>
              <a:ext uri="{FF2B5EF4-FFF2-40B4-BE49-F238E27FC236}">
                <a16:creationId xmlns:a16="http://schemas.microsoft.com/office/drawing/2014/main" id="{9726A751-D77E-FCA7-C69A-F4B98C87D98B}"/>
              </a:ext>
            </a:extLst>
          </p:cNvPr>
          <p:cNvSpPr>
            <a:spLocks noGrp="1"/>
          </p:cNvSpPr>
          <p:nvPr>
            <p:ph idx="1"/>
          </p:nvPr>
        </p:nvSpPr>
        <p:spPr/>
        <p:txBody>
          <a:bodyPr/>
          <a:lstStyle/>
          <a:p>
            <a:pPr marL="0" indent="0" algn="just">
              <a:lnSpc>
                <a:spcPct val="100000"/>
              </a:lnSpc>
              <a:buNone/>
            </a:pPr>
            <a:r>
              <a:rPr lang="en-US" sz="2500" dirty="0">
                <a:latin typeface="Times New Roman" panose="02020603050405020304" pitchFamily="18" charset="0"/>
                <a:cs typeface="Times New Roman" panose="02020603050405020304" pitchFamily="18" charset="0"/>
              </a:rPr>
              <a:t>By the end of Week 2, the foundational setup of both backend and frontend was completed successfully. The backend provides stable APIs with database support, while the frontend delivers a responsive user interface.</a:t>
            </a:r>
          </a:p>
          <a:p>
            <a:pPr marL="0" indent="0" algn="just">
              <a:lnSpc>
                <a:spcPct val="100000"/>
              </a:lnSpc>
              <a:buNone/>
            </a:pPr>
            <a:r>
              <a:rPr lang="en-US" sz="2500" dirty="0">
                <a:latin typeface="Times New Roman" panose="02020603050405020304" pitchFamily="18" charset="0"/>
                <a:cs typeface="Times New Roman" panose="02020603050405020304" pitchFamily="18" charset="0"/>
              </a:rPr>
              <a:t>In the next phase, backend APIs will be integrated with the frontend, authentication will be implemented, and additional features will be developed to enhance the Brag Board platform.</a:t>
            </a:r>
          </a:p>
          <a:p>
            <a:pPr marL="0" indent="0">
              <a:buNone/>
            </a:pPr>
            <a:endParaRPr lang="en-IN" dirty="0"/>
          </a:p>
        </p:txBody>
      </p:sp>
    </p:spTree>
    <p:extLst>
      <p:ext uri="{BB962C8B-B14F-4D97-AF65-F5344CB8AC3E}">
        <p14:creationId xmlns:p14="http://schemas.microsoft.com/office/powerpoint/2010/main" val="39263155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716</Words>
  <Application>Microsoft Office PowerPoint</Application>
  <PresentationFormat>Widescreen</PresentationFormat>
  <Paragraphs>31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   Brag Board(Employee Recognition and Achievement Platform)</vt:lpstr>
      <vt:lpstr>Project Introduction</vt:lpstr>
      <vt:lpstr>Project Overview</vt:lpstr>
      <vt:lpstr>Tools &amp; Technologies Used</vt:lpstr>
      <vt:lpstr>Week 1 – Backend Development And Implementation</vt:lpstr>
      <vt:lpstr>               Snapshots of Backend</vt:lpstr>
      <vt:lpstr>Database Integration &amp; Validation</vt:lpstr>
      <vt:lpstr>Week 2 – Frontend Development and Implementation</vt:lpstr>
      <vt:lpstr>             Snapshots of Frontend</vt:lpstr>
      <vt:lpstr>Conclusion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Tejaswini ks</dc:creator>
  <cp:lastModifiedBy>Tejaswini ks</cp:lastModifiedBy>
  <cp:revision>1</cp:revision>
  <cp:lastPrinted>2025-12-13T12:25:25Z</cp:lastPrinted>
  <dcterms:created xsi:type="dcterms:W3CDTF">2025-12-13T12:24:10Z</dcterms:created>
  <dcterms:modified xsi:type="dcterms:W3CDTF">2025-12-13T12:26:34Z</dcterms:modified>
</cp:coreProperties>
</file>